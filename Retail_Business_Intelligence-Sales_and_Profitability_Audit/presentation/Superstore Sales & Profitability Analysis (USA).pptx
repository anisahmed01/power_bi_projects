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6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4848"/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9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1172" y="56"/>
      </p:cViewPr>
      <p:guideLst/>
    </p:cSldViewPr>
  </p:slideViewPr>
  <p:outlineViewPr>
    <p:cViewPr>
      <p:scale>
        <a:sx n="33" d="100"/>
        <a:sy n="33" d="100"/>
      </p:scale>
      <p:origin x="0" y="-28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 Ahmed" userId="e4908aaeb61151f3" providerId="LiveId" clId="{78CF1511-76BF-4808-8B4D-D90D65B1409D}"/>
    <pc:docChg chg="modSld modMainMaster modShowInfo">
      <pc:chgData name="Anis Ahmed" userId="e4908aaeb61151f3" providerId="LiveId" clId="{78CF1511-76BF-4808-8B4D-D90D65B1409D}" dt="2026-01-28T15:56:56.503" v="13" actId="2744"/>
      <pc:docMkLst>
        <pc:docMk/>
      </pc:docMkLst>
      <pc:sldChg chg="modTransition">
        <pc:chgData name="Anis Ahmed" userId="e4908aaeb61151f3" providerId="LiveId" clId="{78CF1511-76BF-4808-8B4D-D90D65B1409D}" dt="2026-01-28T15:55:51.003" v="6"/>
        <pc:sldMkLst>
          <pc:docMk/>
          <pc:sldMk cId="1058733806" sldId="256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2403708436" sldId="257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3903357503" sldId="258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3175778885" sldId="259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45188978" sldId="260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814147227" sldId="261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3673035364" sldId="262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3408995520" sldId="263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144295380" sldId="264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1064872447" sldId="265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144380092" sldId="266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3604962540" sldId="267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1176741051" sldId="268"/>
        </pc:sldMkLst>
      </pc:sldChg>
      <pc:sldChg chg="modTransition modAnim">
        <pc:chgData name="Anis Ahmed" userId="e4908aaeb61151f3" providerId="LiveId" clId="{78CF1511-76BF-4808-8B4D-D90D65B1409D}" dt="2026-01-28T15:56:13.257" v="12"/>
        <pc:sldMkLst>
          <pc:docMk/>
          <pc:sldMk cId="1421330742" sldId="269"/>
        </pc:sldMkLst>
      </pc:sldChg>
      <pc:sldChg chg="modTransition">
        <pc:chgData name="Anis Ahmed" userId="e4908aaeb61151f3" providerId="LiveId" clId="{78CF1511-76BF-4808-8B4D-D90D65B1409D}" dt="2026-01-28T15:55:51.003" v="6"/>
        <pc:sldMkLst>
          <pc:docMk/>
          <pc:sldMk cId="1957869803" sldId="270"/>
        </pc:sldMkLst>
      </pc:sldChg>
      <pc:sldMasterChg chg="modTransition modSldLayout">
        <pc:chgData name="Anis Ahmed" userId="e4908aaeb61151f3" providerId="LiveId" clId="{78CF1511-76BF-4808-8B4D-D90D65B1409D}" dt="2026-01-28T15:55:51.003" v="6"/>
        <pc:sldMasterMkLst>
          <pc:docMk/>
          <pc:sldMasterMk cId="911112486" sldId="2147484246"/>
        </pc:sldMasterMkLst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1028328906" sldId="2147484247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3160009659" sldId="2147484248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281368482" sldId="2147484249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4052372383" sldId="2147484250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1054411216" sldId="2147484251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3173476983" sldId="2147484252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3788013672" sldId="2147484253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455181723" sldId="2147484254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2914727615" sldId="2147484255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1984697696" sldId="2147484256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2448363027" sldId="2147484257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912974593" sldId="2147484258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1083941546" sldId="2147484259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810270582" sldId="2147484260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2803789163" sldId="2147484261"/>
          </pc:sldLayoutMkLst>
        </pc:sldLayoutChg>
        <pc:sldLayoutChg chg="modTransition">
          <pc:chgData name="Anis Ahmed" userId="e4908aaeb61151f3" providerId="LiveId" clId="{78CF1511-76BF-4808-8B4D-D90D65B1409D}" dt="2026-01-28T15:55:51.003" v="6"/>
          <pc:sldLayoutMkLst>
            <pc:docMk/>
            <pc:sldMasterMk cId="911112486" sldId="2147484246"/>
            <pc:sldLayoutMk cId="1525917546" sldId="214748426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2890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0965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848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7238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1121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7698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1367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8172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2761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97696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836302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74593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394154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70582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89163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1754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E299F-CC2F-4967-B4EE-D810AFC7A210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FC0401F-E758-4B0E-B4B0-888355A73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12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47" r:id="rId1"/>
    <p:sldLayoutId id="2147484248" r:id="rId2"/>
    <p:sldLayoutId id="2147484249" r:id="rId3"/>
    <p:sldLayoutId id="2147484250" r:id="rId4"/>
    <p:sldLayoutId id="2147484251" r:id="rId5"/>
    <p:sldLayoutId id="2147484252" r:id="rId6"/>
    <p:sldLayoutId id="2147484253" r:id="rId7"/>
    <p:sldLayoutId id="2147484254" r:id="rId8"/>
    <p:sldLayoutId id="2147484255" r:id="rId9"/>
    <p:sldLayoutId id="2147484256" r:id="rId10"/>
    <p:sldLayoutId id="2147484257" r:id="rId11"/>
    <p:sldLayoutId id="2147484258" r:id="rId12"/>
    <p:sldLayoutId id="2147484259" r:id="rId13"/>
    <p:sldLayoutId id="2147484260" r:id="rId14"/>
    <p:sldLayoutId id="2147484261" r:id="rId15"/>
    <p:sldLayoutId id="2147484262" r:id="rId16"/>
  </p:sldLayoutIdLst>
  <p:transition spd="slow">
    <p:push dir="u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8F64B8-A2DB-54E8-D46F-56DB961C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9027844" cy="1280890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Superstore Sales &amp; Profitability Analysis (USA)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4FEBED-6068-7296-D3F3-2C19FB945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2391233"/>
            <a:ext cx="8915400" cy="200297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Aptos" panose="020B0004020202020204" pitchFamily="34" charset="0"/>
              </a:rPr>
              <a:t>Tool: </a:t>
            </a:r>
            <a:r>
              <a:rPr lang="en-US" sz="2000" dirty="0">
                <a:latin typeface="Aptos" panose="020B0004020202020204" pitchFamily="34" charset="0"/>
              </a:rPr>
              <a:t>Power BI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Aptos" panose="020B0004020202020204" pitchFamily="34" charset="0"/>
              </a:rPr>
              <a:t>Dataset: </a:t>
            </a:r>
            <a:r>
              <a:rPr lang="en-US" sz="2000" dirty="0">
                <a:latin typeface="Aptos" panose="020B0004020202020204" pitchFamily="34" charset="0"/>
              </a:rPr>
              <a:t>Sample Superstore (USA – 50 States)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Aptos" panose="020B0004020202020204" pitchFamily="34" charset="0"/>
              </a:rPr>
              <a:t>Focus: </a:t>
            </a:r>
            <a:r>
              <a:rPr lang="en-US" sz="2000" dirty="0">
                <a:latin typeface="Aptos" panose="020B0004020202020204" pitchFamily="34" charset="0"/>
              </a:rPr>
              <a:t>Sales, Profit, Discount, Category &amp; Regional Performance</a:t>
            </a:r>
          </a:p>
        </p:txBody>
      </p:sp>
    </p:spTree>
    <p:extLst>
      <p:ext uri="{BB962C8B-B14F-4D97-AF65-F5344CB8AC3E}">
        <p14:creationId xmlns:p14="http://schemas.microsoft.com/office/powerpoint/2010/main" val="105873380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D8CB-8B95-4718-6A77-EFC3D6566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FBE211-8318-F2A2-0467-05304DBA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85815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Objective of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E2A43A-21AE-E0DC-33D8-579AE077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3529" y="1915886"/>
            <a:ext cx="8915400" cy="37776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b="1" dirty="0"/>
              <a:t>Objective: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Identify profit improvement opportunities within existing sales.</a:t>
            </a:r>
          </a:p>
          <a:p>
            <a:pPr>
              <a:spcAft>
                <a:spcPts val="600"/>
              </a:spcAft>
            </a:pPr>
            <a:r>
              <a:rPr lang="en-US" sz="2400" b="1" dirty="0"/>
              <a:t>Questions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Is the business profitable overall?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Where are losses occurring despite high sales?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Which categories, sub-categories, and regions drive profit erosion?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How does discounting affect profitability?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0843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3D08-9828-4871-EB85-52F262EF7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86CCCA-92F3-0525-6165-49066A61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1280890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Data Preparation &amp; Assumptions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2B3A8B-A73D-D9AD-9334-B334AB8F2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2111828"/>
            <a:ext cx="8915400" cy="417813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Data context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Transaction-level order data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Geography limited to USA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Key metrics: Sales, Profit, Quantity, Discount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Important assumption: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Sales and Profit are post-discount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Discount is used for correlation analysis, not recomputation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Cost and list price are not available</a:t>
            </a:r>
          </a:p>
        </p:txBody>
      </p:sp>
    </p:spTree>
    <p:extLst>
      <p:ext uri="{BB962C8B-B14F-4D97-AF65-F5344CB8AC3E}">
        <p14:creationId xmlns:p14="http://schemas.microsoft.com/office/powerpoint/2010/main" val="390335750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7CECE-6A8C-BE44-24A4-CB27A831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DB147E-0345-5FBB-4589-FA6A4C04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1051412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Data Preparation &amp; Modeling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69AB83-8E66-E353-E6FA-8CC3A21A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970315"/>
            <a:ext cx="8915400" cy="3777622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n-US" sz="2800" b="1" dirty="0"/>
              <a:t>Power Query: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Aptos" panose="020B0004020202020204" pitchFamily="34" charset="0"/>
              </a:rPr>
              <a:t>Correct data types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Aptos" panose="020B0004020202020204" pitchFamily="34" charset="0"/>
              </a:rPr>
              <a:t>Derived Year and Month</a:t>
            </a:r>
          </a:p>
          <a:p>
            <a:pPr>
              <a:spcAft>
                <a:spcPts val="600"/>
              </a:spcAft>
            </a:pPr>
            <a:r>
              <a:rPr lang="en-US" sz="2800" b="1" dirty="0"/>
              <a:t>Model: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Aptos" panose="020B0004020202020204" pitchFamily="34" charset="0"/>
              </a:rPr>
              <a:t>Single fact table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Aptos" panose="020B0004020202020204" pitchFamily="34" charset="0"/>
              </a:rPr>
              <a:t>Non-analytical columns hidden</a:t>
            </a:r>
          </a:p>
          <a:p>
            <a:pPr>
              <a:spcAft>
                <a:spcPts val="600"/>
              </a:spcAft>
            </a:pPr>
            <a:r>
              <a:rPr lang="en-US" sz="2800" b="1" dirty="0"/>
              <a:t>Purpose: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Aptos" panose="020B0004020202020204" pitchFamily="34" charset="0"/>
              </a:rPr>
              <a:t>Ensure analysis is based on reliable data.</a:t>
            </a:r>
          </a:p>
        </p:txBody>
      </p:sp>
    </p:spTree>
    <p:extLst>
      <p:ext uri="{BB962C8B-B14F-4D97-AF65-F5344CB8AC3E}">
        <p14:creationId xmlns:p14="http://schemas.microsoft.com/office/powerpoint/2010/main" val="317577888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135C3B-4493-730B-5538-940FFB0E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04C9F-5AE6-5F2D-F37D-ACDA641F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84755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Overall Business Performance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2A4919-04E2-69DD-2CC8-B9F3CA169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153886"/>
            <a:ext cx="3414528" cy="5094514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n-US" sz="2400" b="1" dirty="0"/>
              <a:t>High-level KPIs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Total Sales: $2.29M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Total Quantity : 38k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Total Orders : 5009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Total Profit: $286K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Overall Profit Margin: ~12.5%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Average Discount: 15.62%</a:t>
            </a:r>
          </a:p>
          <a:p>
            <a:pPr>
              <a:spcAft>
                <a:spcPts val="600"/>
              </a:spcAft>
            </a:pPr>
            <a:r>
              <a:rPr lang="en-US" sz="2400" b="1" dirty="0"/>
              <a:t>Observation: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Business is profitable at an aggregate level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This suggests internal inefficiencies, not weak demand.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F2A456-F469-AE2F-8B23-152855AC6D2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778" y="1153886"/>
            <a:ext cx="4114800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6E38CC-2A28-C383-6FCD-663AAA7E60C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778" y="2711117"/>
            <a:ext cx="411480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F681E-C0C2-9B49-377B-283590F4D29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778" y="4332514"/>
            <a:ext cx="4114800" cy="137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DC7BB9-0215-47A0-C9C3-CBDF7FD6D6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445" y="1219200"/>
            <a:ext cx="2123586" cy="124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307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97C054-6F19-2A20-8651-2DB53AD4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C64721-71E4-76B2-C4EF-FCD6D709E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69515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Category-Level Performance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F93F15-B611-E54F-3695-D6A853798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270" y="1328058"/>
            <a:ext cx="4455844" cy="5136524"/>
          </a:xfrm>
        </p:spPr>
        <p:txBody>
          <a:bodyPr>
            <a:normAutofit fontScale="25000" lnSpcReduction="20000"/>
          </a:bodyPr>
          <a:lstStyle/>
          <a:p>
            <a:pPr>
              <a:spcAft>
                <a:spcPts val="600"/>
              </a:spcAft>
            </a:pPr>
            <a:r>
              <a:rPr lang="en-US" sz="8800" b="1" dirty="0"/>
              <a:t>Sales vs Profit reality</a:t>
            </a:r>
          </a:p>
          <a:p>
            <a:pPr>
              <a:spcAft>
                <a:spcPts val="600"/>
              </a:spcAft>
            </a:pPr>
            <a:r>
              <a:rPr lang="en-US" sz="8800" b="1" dirty="0"/>
              <a:t>Technology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>
                <a:latin typeface="Aptos" panose="020B0004020202020204" pitchFamily="34" charset="0"/>
              </a:rPr>
              <a:t>Highest profit contribution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>
                <a:latin typeface="Aptos" panose="020B0004020202020204" pitchFamily="34" charset="0"/>
              </a:rPr>
              <a:t>Strong and consistent margins</a:t>
            </a:r>
          </a:p>
          <a:p>
            <a:pPr>
              <a:spcAft>
                <a:spcPts val="600"/>
              </a:spcAft>
            </a:pPr>
            <a:r>
              <a:rPr lang="en-US" sz="8800" b="1" dirty="0"/>
              <a:t>Office Supplies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>
                <a:latin typeface="Aptos" panose="020B0004020202020204" pitchFamily="34" charset="0"/>
              </a:rPr>
              <a:t>Stable profitability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>
                <a:latin typeface="Aptos" panose="020B0004020202020204" pitchFamily="34" charset="0"/>
              </a:rPr>
              <a:t>Lower volatility</a:t>
            </a:r>
          </a:p>
          <a:p>
            <a:pPr>
              <a:spcAft>
                <a:spcPts val="600"/>
              </a:spcAft>
            </a:pPr>
            <a:r>
              <a:rPr lang="en-US" sz="8800" b="1" dirty="0"/>
              <a:t>Furniture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>
                <a:latin typeface="Aptos" panose="020B0004020202020204" pitchFamily="34" charset="0"/>
              </a:rPr>
              <a:t>High sales volume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>
                <a:latin typeface="Aptos" panose="020B0004020202020204" pitchFamily="34" charset="0"/>
              </a:rPr>
              <a:t>Weak overall profit margin (~2–3%)</a:t>
            </a:r>
          </a:p>
          <a:p>
            <a:pPr>
              <a:spcAft>
                <a:spcPts val="600"/>
              </a:spcAft>
            </a:pPr>
            <a:r>
              <a:rPr lang="en-US" sz="8800" b="1" dirty="0"/>
              <a:t>Insight: </a:t>
            </a:r>
            <a:r>
              <a:rPr lang="en-US" sz="7200" dirty="0">
                <a:latin typeface="Aptos" panose="020B0004020202020204" pitchFamily="34" charset="0"/>
              </a:rPr>
              <a:t>Furniture generates revenue but contributes disproportionately less to profit</a:t>
            </a:r>
            <a:r>
              <a:rPr lang="en-US" sz="4300" b="1" dirty="0"/>
              <a:t>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D16A2-87E8-6B35-4FE2-93455D9C5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514" y="1197165"/>
            <a:ext cx="4318028" cy="2951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2F8DA-4FB5-B0A0-8CC9-1F41DCDDB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172" y="4181313"/>
            <a:ext cx="2895600" cy="228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897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08D340-E440-87D5-83EB-BEFD2369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41CCE5-1542-D19F-447C-3DE982A3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662216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Furniture Sub-Category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56E11-4E30-EE42-2217-73FA4CEC0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273629"/>
            <a:ext cx="4557528" cy="5061856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600"/>
              </a:spcAft>
            </a:pPr>
            <a:r>
              <a:rPr lang="en-US" sz="3100" b="1" dirty="0"/>
              <a:t>Why Furniture underperforms (Sub-category breakdown)</a:t>
            </a:r>
          </a:p>
          <a:p>
            <a:pPr>
              <a:spcAft>
                <a:spcPts val="600"/>
              </a:spcAft>
            </a:pPr>
            <a:r>
              <a:rPr lang="en-US" sz="3100" b="1" dirty="0"/>
              <a:t>Tables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High sales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Significant losses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High average discounts</a:t>
            </a:r>
          </a:p>
          <a:p>
            <a:pPr>
              <a:spcAft>
                <a:spcPts val="600"/>
              </a:spcAft>
            </a:pPr>
            <a:r>
              <a:rPr lang="en-US" sz="3100" b="1" dirty="0"/>
              <a:t>Bookcases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>
                <a:latin typeface="Aptos" panose="020B0004020202020204" pitchFamily="34" charset="0"/>
              </a:rPr>
              <a:t>Negative profit</a:t>
            </a:r>
          </a:p>
          <a:p>
            <a:pPr>
              <a:spcAft>
                <a:spcPts val="600"/>
              </a:spcAft>
            </a:pPr>
            <a:r>
              <a:rPr lang="en-US" sz="3500" b="1" dirty="0"/>
              <a:t>Chairs &amp; Furnishings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>
                <a:latin typeface="Aptos" panose="020B0004020202020204" pitchFamily="34" charset="0"/>
              </a:rPr>
              <a:t>Positive profit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>
                <a:latin typeface="Aptos" panose="020B0004020202020204" pitchFamily="34" charset="0"/>
              </a:rPr>
              <a:t>Better margin control</a:t>
            </a:r>
          </a:p>
          <a:p>
            <a:pPr>
              <a:spcAft>
                <a:spcPts val="600"/>
              </a:spcAft>
            </a:pPr>
            <a:r>
              <a:rPr lang="en-US" sz="3100" b="1" dirty="0"/>
              <a:t>Conclusion: </a:t>
            </a:r>
            <a:r>
              <a:rPr lang="en-US" sz="2900" dirty="0">
                <a:latin typeface="Aptos" panose="020B0004020202020204" pitchFamily="34" charset="0"/>
              </a:rPr>
              <a:t>Losses in Furniture are driven by specific sub-categories, not the entire category.</a:t>
            </a:r>
          </a:p>
          <a:p>
            <a:endParaRPr lang="en-US" sz="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7E04D2-3D73-CA19-E41B-3DBE0A93D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884" y="3804557"/>
            <a:ext cx="2592671" cy="2376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1BF2C2-82DA-A6DF-6EFE-1976B6BE9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106" y="1648946"/>
            <a:ext cx="5356228" cy="20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4722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7B8C064-6B8A-2AC8-28E1-C4430A60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B5B05C-86E8-0779-14E9-CDC03813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66221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Segment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00C98F-CDD1-B625-ADDD-160623BE6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2" y="1262743"/>
            <a:ext cx="4927643" cy="5288924"/>
          </a:xfrm>
        </p:spPr>
        <p:txBody>
          <a:bodyPr>
            <a:normAutofit fontScale="32500" lnSpcReduction="20000"/>
          </a:bodyPr>
          <a:lstStyle/>
          <a:p>
            <a:pPr>
              <a:spcAft>
                <a:spcPts val="600"/>
              </a:spcAft>
            </a:pPr>
            <a:r>
              <a:rPr lang="en-US" sz="6000" b="1" dirty="0"/>
              <a:t>Who buys profitably</a:t>
            </a:r>
          </a:p>
          <a:p>
            <a:pPr>
              <a:spcAft>
                <a:spcPts val="600"/>
              </a:spcAft>
            </a:pPr>
            <a:r>
              <a:rPr lang="en-US" sz="6000" b="1" dirty="0"/>
              <a:t>Consumer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500" dirty="0">
                <a:latin typeface="Aptos" panose="020B0004020202020204" pitchFamily="34" charset="0"/>
              </a:rPr>
              <a:t>Highest sales volume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500" dirty="0">
                <a:latin typeface="Aptos" panose="020B0004020202020204" pitchFamily="34" charset="0"/>
              </a:rPr>
              <a:t>Moderate profit margin</a:t>
            </a:r>
          </a:p>
          <a:p>
            <a:pPr>
              <a:spcAft>
                <a:spcPts val="600"/>
              </a:spcAft>
            </a:pPr>
            <a:r>
              <a:rPr lang="en-US" sz="6000" b="1" dirty="0"/>
              <a:t>Corporate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500" dirty="0">
                <a:latin typeface="Aptos" panose="020B0004020202020204" pitchFamily="34" charset="0"/>
              </a:rPr>
              <a:t>Lower sales than Consumer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500" dirty="0">
                <a:latin typeface="Aptos" panose="020B0004020202020204" pitchFamily="34" charset="0"/>
              </a:rPr>
              <a:t>Better margin discipline</a:t>
            </a:r>
          </a:p>
          <a:p>
            <a:pPr>
              <a:spcAft>
                <a:spcPts val="600"/>
              </a:spcAft>
            </a:pPr>
            <a:r>
              <a:rPr lang="en-US" sz="6000" b="1" dirty="0"/>
              <a:t>Home Office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500" dirty="0">
                <a:latin typeface="Aptos" panose="020B0004020202020204" pitchFamily="34" charset="0"/>
              </a:rPr>
              <a:t>Lowest sales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500" dirty="0">
                <a:latin typeface="Aptos" panose="020B0004020202020204" pitchFamily="34" charset="0"/>
              </a:rPr>
              <a:t>Highest profit margin</a:t>
            </a:r>
          </a:p>
          <a:p>
            <a:pPr>
              <a:spcAft>
                <a:spcPts val="600"/>
              </a:spcAft>
            </a:pPr>
            <a:r>
              <a:rPr lang="en-US" sz="6200" b="1" dirty="0"/>
              <a:t>Interpretation: </a:t>
            </a:r>
            <a:r>
              <a:rPr lang="en-US" sz="5500" dirty="0">
                <a:latin typeface="Aptos" panose="020B0004020202020204" pitchFamily="34" charset="0"/>
              </a:rPr>
              <a:t>High-volume customers are not always the most profitable customers.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06BCC8-916A-3467-2EEB-3A4672499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714" y="1262743"/>
            <a:ext cx="6489866" cy="205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3536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0F6F77-D0E7-8B97-57D8-D9D4B648B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B22E64-4765-2F74-52C8-C60FC79A7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814896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State-Level Loss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66D8E5-2960-8C1B-565A-E1DAF3886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121229"/>
            <a:ext cx="4720814" cy="5430438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600"/>
              </a:spcAft>
            </a:pPr>
            <a:r>
              <a:rPr lang="en-US" sz="4400" b="1" dirty="0"/>
              <a:t>Worst-performing states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Texas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Ohio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Pennsylvania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Illinois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North Carolina</a:t>
            </a:r>
          </a:p>
          <a:p>
            <a:pPr>
              <a:spcAft>
                <a:spcPts val="600"/>
              </a:spcAft>
            </a:pPr>
            <a:r>
              <a:rPr lang="en-US" sz="4400" b="1" dirty="0"/>
              <a:t>Common traits: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High sales volume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Negative profit margins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Elevated average discounts</a:t>
            </a:r>
          </a:p>
          <a:p>
            <a:pPr>
              <a:spcAft>
                <a:spcPts val="600"/>
              </a:spcAft>
            </a:pPr>
            <a:r>
              <a:rPr lang="en-US" sz="4400" b="1" dirty="0"/>
              <a:t>Insight: </a:t>
            </a:r>
            <a:r>
              <a:rPr lang="en-US" sz="3800" dirty="0">
                <a:latin typeface="Aptos" panose="020B0004020202020204" pitchFamily="34" charset="0"/>
              </a:rPr>
              <a:t>These states are not demand-poor — they are margin-poor.</a:t>
            </a:r>
            <a:endParaRPr lang="en-US" sz="5500" dirty="0"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E9E432-DD14-2035-0DA2-19C83E35C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427" y="1656491"/>
            <a:ext cx="6227673" cy="308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9552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2692F9-471F-9E1E-5801-3273A43F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2EF090-C644-A344-88D7-19F030138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662216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City-Level Loss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80DC09-EF78-C44C-47E4-0B883BB93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985" y="1328057"/>
            <a:ext cx="4405129" cy="5105400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en-US" sz="4200" b="1" dirty="0"/>
              <a:t>Cities contributing most to losses: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Houston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Chicago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Philadelphia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San Antonio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Lancaster</a:t>
            </a:r>
          </a:p>
          <a:p>
            <a:pPr>
              <a:spcAft>
                <a:spcPts val="600"/>
              </a:spcAft>
            </a:pPr>
            <a:r>
              <a:rPr lang="en-US" sz="4200" b="1" dirty="0"/>
              <a:t>Pattern observed: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Extremely high discounts (30–40%)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dirty="0">
                <a:latin typeface="Aptos" panose="020B0004020202020204" pitchFamily="34" charset="0"/>
              </a:rPr>
              <a:t>Strong sales but consistently negative margins</a:t>
            </a:r>
          </a:p>
          <a:p>
            <a:pPr>
              <a:spcAft>
                <a:spcPts val="600"/>
              </a:spcAft>
            </a:pPr>
            <a:r>
              <a:rPr lang="en-US" sz="4000" b="1" dirty="0"/>
              <a:t>Conclusion: </a:t>
            </a:r>
            <a:r>
              <a:rPr lang="en-US" sz="3800" dirty="0">
                <a:latin typeface="Aptos" panose="020B0004020202020204" pitchFamily="34" charset="0"/>
              </a:rPr>
              <a:t>City-level discounting decisions are eroding profitability.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6A190F-A6DA-C839-25EF-670ADFFC9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463" y="1450719"/>
            <a:ext cx="5833815" cy="26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538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11A767-7B89-8DAB-3096-9F077329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04C896-4DE5-CBEC-EFD3-A4346A8AA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738696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Discount Impact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254A7A-6CAA-1509-EBC2-B2FA6D5D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485759"/>
            <a:ext cx="4154757" cy="4604937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z="2200" b="1" dirty="0"/>
              <a:t>Discount vs Profit relationship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z="2200" b="1" dirty="0"/>
              <a:t>Observed behavior: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Low to moderate discounts support profitability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High discounts sharply reduce margins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Certain sub-categories are extremely discount-sensitive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z="2200" b="1" dirty="0"/>
              <a:t>Key insight: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Discounting is the primary driver of losses, not low sales volume.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64B114-F760-0D44-64FC-5A4C283C9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576" y="1485759"/>
            <a:ext cx="2702567" cy="2292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C81DC4-1A1B-C4C9-504F-AC9F6A391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576" y="3788227"/>
            <a:ext cx="2719449" cy="249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7244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C3F798-25E6-8019-D031-7633C4291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0BD31D-9EC8-4267-191F-C5038AE8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41019"/>
            <a:ext cx="8911687" cy="1280890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Key Conclusions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CA38D1-DFD9-51B4-5E98-341E1F211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521909"/>
            <a:ext cx="8915400" cy="4463422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z="2000" b="1" dirty="0"/>
              <a:t>What the analysis clearly shows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z="2000" b="1" dirty="0"/>
              <a:t>Business is profitable overall but inefficient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z="2000" b="1" dirty="0"/>
              <a:t>Losses are concentrated in: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Furniture sub-categories (Tables, Bookcases)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Specific states and cities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z="2000" b="1" dirty="0"/>
              <a:t>Aggressive discounting is consistently linked to negative margins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z="2000" b="1" dirty="0"/>
              <a:t>High sales regions are not necessarily profitable regions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8009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82E1A4-089C-6B03-D76B-06138495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EC8B17-99DD-DC76-5A12-F23D8F99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869" y="284562"/>
            <a:ext cx="8911687" cy="1280890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Recommendations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FB60A5-650E-3C6C-28D4-40E833D4F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894115"/>
            <a:ext cx="8915400" cy="37776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b="1" dirty="0"/>
              <a:t>Short-Term Actions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Cap discounts for loss-making sub-categories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Review pricing strategy in high-loss states and cities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Reduce focus on revenue-only performance metrics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96254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9C2285-8BDD-D403-DD46-530D37EB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A6DE4A-270A-C011-F332-69AC2E41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1280890"/>
          </a:xfrm>
        </p:spPr>
        <p:txBody>
          <a:bodyPr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Recommendations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D8A0E1-79BE-7FA3-2AD5-2F185D44D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2111829"/>
            <a:ext cx="8915400" cy="377762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b="1" dirty="0"/>
              <a:t>Long-Term Actions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Introduce discount governance by region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Shift portfolio mix toward high-margin categories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Track profit-first KPIs instead of sales-only KPIs</a:t>
            </a:r>
          </a:p>
          <a:p>
            <a:pPr marL="457200" lvl="1" indent="0">
              <a:spcAft>
                <a:spcPts val="600"/>
              </a:spcAft>
              <a:buNone/>
            </a:pPr>
            <a:endParaRPr lang="en-US" sz="1800" dirty="0">
              <a:latin typeface="Aptos" panose="020B0004020202020204" pitchFamily="34" charset="0"/>
            </a:endParaRPr>
          </a:p>
          <a:p>
            <a:pPr marL="342900" lvl="1" indent="-342900">
              <a:spcAft>
                <a:spcPts val="600"/>
              </a:spcAft>
            </a:pPr>
            <a:r>
              <a:rPr lang="en-US" sz="2400" b="1" dirty="0"/>
              <a:t>Closing statement: </a:t>
            </a:r>
            <a:r>
              <a:rPr lang="en-US" sz="1800" dirty="0">
                <a:latin typeface="Aptos" panose="020B0004020202020204" pitchFamily="34" charset="0"/>
              </a:rPr>
              <a:t>“Improving margins within existing sales is faster and safer than chasing new revenue.”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74105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F14E6-C00D-B64D-246F-32AEF130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108777"/>
            <a:ext cx="8911687" cy="640445"/>
          </a:xfrm>
        </p:spPr>
        <p:txBody>
          <a:bodyPr/>
          <a:lstStyle/>
          <a:p>
            <a:pPr algn="ctr"/>
            <a:r>
              <a:rPr lang="en-US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5786980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1194</TotalTime>
  <Words>562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ExtraBold</vt:lpstr>
      <vt:lpstr>Arial</vt:lpstr>
      <vt:lpstr>Century Gothic</vt:lpstr>
      <vt:lpstr>Wingdings 3</vt:lpstr>
      <vt:lpstr>Wisp</vt:lpstr>
      <vt:lpstr>Superstore Sales &amp; Profitability Analysis (USA)</vt:lpstr>
      <vt:lpstr>Objective of Analysis</vt:lpstr>
      <vt:lpstr>Data Preparation &amp; Assumptions</vt:lpstr>
      <vt:lpstr>Data Preparation &amp; Modeling</vt:lpstr>
      <vt:lpstr>Overall Business Performance</vt:lpstr>
      <vt:lpstr>Category-Level Performance </vt:lpstr>
      <vt:lpstr>Furniture Sub-Category Analysis</vt:lpstr>
      <vt:lpstr>Segment Analysis</vt:lpstr>
      <vt:lpstr>State-Level Loss Analysis</vt:lpstr>
      <vt:lpstr>City-Level Loss Analysis</vt:lpstr>
      <vt:lpstr>Discount Impact Analysis</vt:lpstr>
      <vt:lpstr>Key Conclusions</vt:lpstr>
      <vt:lpstr>Recommendations</vt:lpstr>
      <vt:lpstr>Recommendations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 Ahmed</dc:creator>
  <cp:lastModifiedBy>Anis Ahmed</cp:lastModifiedBy>
  <cp:revision>1</cp:revision>
  <dcterms:created xsi:type="dcterms:W3CDTF">2026-01-27T15:32:27Z</dcterms:created>
  <dcterms:modified xsi:type="dcterms:W3CDTF">2026-01-28T15:57:28Z</dcterms:modified>
</cp:coreProperties>
</file>